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63" r:id="rId2"/>
    <p:sldId id="264" r:id="rId3"/>
    <p:sldId id="273" r:id="rId4"/>
    <p:sldId id="272" r:id="rId5"/>
    <p:sldId id="265" r:id="rId6"/>
    <p:sldId id="276" r:id="rId7"/>
    <p:sldId id="277" r:id="rId8"/>
    <p:sldId id="278" r:id="rId9"/>
    <p:sldId id="279" r:id="rId10"/>
    <p:sldId id="280" r:id="rId11"/>
    <p:sldId id="282" r:id="rId12"/>
    <p:sldId id="274" r:id="rId13"/>
    <p:sldId id="275" r:id="rId14"/>
    <p:sldId id="28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DE"/>
    <a:srgbClr val="0E964F"/>
    <a:srgbClr val="009218"/>
    <a:srgbClr val="6F04DA"/>
    <a:srgbClr val="4D0397"/>
    <a:srgbClr val="5603A9"/>
    <a:srgbClr val="701800"/>
    <a:srgbClr val="681600"/>
    <a:srgbClr val="EA8B00"/>
    <a:srgbClr val="FB8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1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75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0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91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43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51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0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59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68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78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82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66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34F5-BDE2-4375-B83B-F49841317258}" type="datetimeFigureOut">
              <a:rPr lang="ru-RU" smtClean="0"/>
              <a:t>24.05.2025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83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4.emf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54406" cy="6858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 t="12302" r="3901" b="12632"/>
          <a:stretch/>
        </p:blipFill>
        <p:spPr>
          <a:xfrm>
            <a:off x="2311015" y="532290"/>
            <a:ext cx="2229493" cy="1301015"/>
          </a:xfrm>
          <a:prstGeom prst="rect">
            <a:avLst/>
          </a:prstGeom>
        </p:spPr>
      </p:pic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034012"/>
              </p:ext>
            </p:extLst>
          </p:nvPr>
        </p:nvGraphicFramePr>
        <p:xfrm>
          <a:off x="9841661" y="565277"/>
          <a:ext cx="1145277" cy="502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CorelDRAW" r:id="rId5" imgW="3084412" imgH="1354813" progId="CorelDraw.Graphic.22">
                  <p:embed/>
                </p:oleObj>
              </mc:Choice>
              <mc:Fallback>
                <p:oleObj name="CorelDRAW" r:id="rId5" imgW="3084412" imgH="1354813" progId="CorelDraw.Graphic.22">
                  <p:embed/>
                  <p:pic>
                    <p:nvPicPr>
                      <p:cNvPr id="16" name="Объект 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41661" y="565277"/>
                        <a:ext cx="1145277" cy="502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>
          <a:xfrm>
            <a:off x="2066306" y="1971304"/>
            <a:ext cx="9054683" cy="206036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ИССЛЕДОВАНИЕ МЕТОДОВ ДЕТЕКТИРОВАНИЯ ИЗОБРАЖЕНИЙ, СГЕНЕРИРОВАННЫХ ДИФФУЗИОННЫМИ МОДЕЛЯМИ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470469" y="4180344"/>
            <a:ext cx="4950714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i="1" dirty="0">
                <a:latin typeface="Arial" panose="020B0604020202020204" pitchFamily="34" charset="0"/>
                <a:cs typeface="Arial" panose="020B0604020202020204" pitchFamily="34" charset="0"/>
              </a:rPr>
              <a:t>Студент: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РИМ-231902</a:t>
            </a:r>
          </a:p>
          <a:p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Горбачев Алексей Николаевич</a:t>
            </a:r>
          </a:p>
          <a:p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400" i="1" dirty="0">
                <a:latin typeface="Arial" panose="020B0604020202020204" pitchFamily="34" charset="0"/>
                <a:cs typeface="Arial" panose="020B0604020202020204" pitchFamily="34" charset="0"/>
              </a:rPr>
              <a:t>Научный руководитель:</a:t>
            </a:r>
          </a:p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к.т.н., доцент кафедры РИТ</a:t>
            </a:r>
          </a:p>
          <a:p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Ронкин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 Михаил Владимирович</a:t>
            </a:r>
          </a:p>
        </p:txBody>
      </p:sp>
    </p:spTree>
    <p:extLst>
      <p:ext uri="{BB962C8B-B14F-4D97-AF65-F5344CB8AC3E}">
        <p14:creationId xmlns:p14="http://schemas.microsoft.com/office/powerpoint/2010/main" val="1839489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6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05C58E1-8440-4B9E-827D-7F6203B88229}"/>
              </a:ext>
            </a:extLst>
          </p:cNvPr>
          <p:cNvSpPr txBox="1">
            <a:spLocks/>
          </p:cNvSpPr>
          <p:nvPr/>
        </p:nvSpPr>
        <p:spPr>
          <a:xfrm>
            <a:off x="2627146" y="94374"/>
            <a:ext cx="6937708" cy="6448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Актуальность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C6AD14-8D8B-490D-93EE-E00E6C622F26}"/>
              </a:ext>
            </a:extLst>
          </p:cNvPr>
          <p:cNvSpPr txBox="1"/>
          <p:nvPr/>
        </p:nvSpPr>
        <p:spPr>
          <a:xfrm>
            <a:off x="492034" y="910357"/>
            <a:ext cx="11207932" cy="5108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увеличение доступности и качества генеративных моделей приводит к массовому созданию синтетического контента, что требует разработки инструментов для его идентификации;</a:t>
            </a: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фейковые изображения могут использоваться для манипуляции общественным мнением, мошенничества и других злонамеренных целей;</a:t>
            </a: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традиционные подходы к детектированию малоэффективны против современных моделей с высокой степенью реалистичности;</a:t>
            </a: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этические и правовые аспекты: использование технологии «</a:t>
            </a:r>
            <a:r>
              <a:rPr lang="ru-RU" sz="20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дипфейк</a:t>
            </a: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» при совершении преступления может стать отягчающим обстоятельством.</a:t>
            </a:r>
          </a:p>
        </p:txBody>
      </p:sp>
    </p:spTree>
    <p:extLst>
      <p:ext uri="{BB962C8B-B14F-4D97-AF65-F5344CB8AC3E}">
        <p14:creationId xmlns:p14="http://schemas.microsoft.com/office/powerpoint/2010/main" val="2383339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2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05C58E1-8440-4B9E-827D-7F6203B88229}"/>
              </a:ext>
            </a:extLst>
          </p:cNvPr>
          <p:cNvSpPr txBox="1">
            <a:spLocks/>
          </p:cNvSpPr>
          <p:nvPr/>
        </p:nvSpPr>
        <p:spPr>
          <a:xfrm>
            <a:off x="2627146" y="94374"/>
            <a:ext cx="6937708" cy="6448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 и задачи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C6AD14-8D8B-490D-93EE-E00E6C622F26}"/>
              </a:ext>
            </a:extLst>
          </p:cNvPr>
          <p:cNvSpPr txBox="1"/>
          <p:nvPr/>
        </p:nvSpPr>
        <p:spPr>
          <a:xfrm>
            <a:off x="492034" y="910357"/>
            <a:ext cx="11207932" cy="5031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Цель: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исследование архитектур и алгоритмов, позволяющие детектировать изображения, сгенерированные с помощью диффузионных моделей, и разработка более эффективного </a:t>
            </a:r>
            <a:r>
              <a:rPr lang="ru-RU" sz="200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алгоритма детектирования.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ru-RU" sz="2000" b="1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Задачи: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</a:t>
            </a: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ассмотреть текущие методы детектирования изображений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</a:t>
            </a: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формировать архитектуру и алгоритм для детектирования изображений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</a:t>
            </a: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одготовить набор данных для обучения и оценки качества алгоритма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</a:t>
            </a: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ровести эксперимент по обучению детектора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Проанализировать полученные результаты</a:t>
            </a:r>
            <a:endParaRPr lang="ru-RU" sz="20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133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8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05C58E1-8440-4B9E-827D-7F6203B88229}"/>
              </a:ext>
            </a:extLst>
          </p:cNvPr>
          <p:cNvSpPr txBox="1">
            <a:spLocks/>
          </p:cNvSpPr>
          <p:nvPr/>
        </p:nvSpPr>
        <p:spPr>
          <a:xfrm>
            <a:off x="1775361" y="94374"/>
            <a:ext cx="8431481" cy="6448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Текущие методы распознавания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FD82A-55C3-4675-B864-20790CFEDE9F}"/>
              </a:ext>
            </a:extLst>
          </p:cNvPr>
          <p:cNvSpPr txBox="1"/>
          <p:nvPr/>
        </p:nvSpPr>
        <p:spPr>
          <a:xfrm>
            <a:off x="492034" y="1302243"/>
            <a:ext cx="11207932" cy="372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Модели пространственной области поиска артефактов в сгенерированных изображений;</a:t>
            </a: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Модели частотной области поиска артефактов в сгенерированных изображений;</a:t>
            </a: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Модели на основе ошибки реконструкции;</a:t>
            </a:r>
          </a:p>
          <a:p>
            <a:pPr marL="342900" lvl="0" indent="-3429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Модели на основе текстовой информации об изображении.</a:t>
            </a:r>
          </a:p>
        </p:txBody>
      </p:sp>
    </p:spTree>
    <p:extLst>
      <p:ext uri="{BB962C8B-B14F-4D97-AF65-F5344CB8AC3E}">
        <p14:creationId xmlns:p14="http://schemas.microsoft.com/office/powerpoint/2010/main" val="2594240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B3E934D-845A-47F5-BE11-71A0C5910EE9}"/>
              </a:ext>
            </a:extLst>
          </p:cNvPr>
          <p:cNvSpPr txBox="1">
            <a:spLocks/>
          </p:cNvSpPr>
          <p:nvPr/>
        </p:nvSpPr>
        <p:spPr>
          <a:xfrm>
            <a:off x="1775361" y="94374"/>
            <a:ext cx="8431481" cy="6448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Датасет</a:t>
            </a:r>
            <a:endParaRPr lang="ru-RU" altLang="ru-RU" sz="36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9A8612-BDF5-4471-B1F5-509E35764438}"/>
              </a:ext>
            </a:extLst>
          </p:cNvPr>
          <p:cNvSpPr txBox="1"/>
          <p:nvPr/>
        </p:nvSpPr>
        <p:spPr>
          <a:xfrm>
            <a:off x="308759" y="1373495"/>
            <a:ext cx="5101442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Датасет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GenImage</a:t>
            </a:r>
            <a:r>
              <a:rPr lang="en-US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являющийся бенчмарком в распознавании синтетических изображений;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Основан на </a:t>
            </a:r>
            <a:r>
              <a:rPr lang="en-US" i="1" u="sng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ImageNet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 содержит более миллиона пар «реальное/сгенерированное» изображение;</a:t>
            </a:r>
            <a:endParaRPr lang="ru-RU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0A4DE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Для обучения оставлены только </a:t>
            </a:r>
            <a:r>
              <a:rPr lang="en-US" b="1" dirty="0">
                <a:solidFill>
                  <a:srgbClr val="00A4DE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DM-</a:t>
            </a:r>
            <a:r>
              <a:rPr lang="ru-RU" b="1" dirty="0">
                <a:solidFill>
                  <a:srgbClr val="00A4DE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генераторы</a:t>
            </a:r>
            <a:r>
              <a:rPr lang="en-US" b="1" dirty="0">
                <a:solidFill>
                  <a:srgbClr val="00A4DE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A4DE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изображений;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 данной работе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датасет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был </a:t>
            </a:r>
            <a:r>
              <a:rPr lang="ru-RU" b="1" u="sng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сокращен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до 20000 (тренировочная) и 5000 (тестовая) выборок.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Искажающая аугментация не применялась, чтобы не изменять характеристики исходного изображения</a:t>
            </a:r>
            <a:endParaRPr lang="ru-RU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08F9A4D-4A10-4CF0-9953-6EFA50549959}"/>
              </a:ext>
            </a:extLst>
          </p:cNvPr>
          <p:cNvGrpSpPr/>
          <p:nvPr/>
        </p:nvGrpSpPr>
        <p:grpSpPr>
          <a:xfrm>
            <a:off x="5515511" y="1823733"/>
            <a:ext cx="6057072" cy="3210533"/>
            <a:chOff x="5515511" y="1536718"/>
            <a:chExt cx="6057072" cy="3210533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FE7E1E28-2416-4A99-9A9B-8F97F27242CE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5515511" y="1536719"/>
              <a:ext cx="6057072" cy="3181015"/>
            </a:xfrm>
            <a:prstGeom prst="rect">
              <a:avLst/>
            </a:prstGeom>
          </p:spPr>
        </p:pic>
        <p:sp>
          <p:nvSpPr>
            <p:cNvPr id="2" name="Прямоугольник: скругленные углы 1">
              <a:extLst>
                <a:ext uri="{FF2B5EF4-FFF2-40B4-BE49-F238E27FC236}">
                  <a16:creationId xmlns:a16="http://schemas.microsoft.com/office/drawing/2014/main" id="{387962BE-9DB3-46D9-B141-016917ADD917}"/>
                </a:ext>
              </a:extLst>
            </p:cNvPr>
            <p:cNvSpPr/>
            <p:nvPr/>
          </p:nvSpPr>
          <p:spPr>
            <a:xfrm>
              <a:off x="6178550" y="1536718"/>
              <a:ext cx="3568700" cy="3210533"/>
            </a:xfrm>
            <a:prstGeom prst="roundRect">
              <a:avLst>
                <a:gd name="adj" fmla="val 2857"/>
              </a:avLst>
            </a:prstGeom>
            <a:solidFill>
              <a:srgbClr val="00A4DE">
                <a:alpha val="40000"/>
              </a:srgbClr>
            </a:solidFill>
            <a:ln>
              <a:solidFill>
                <a:srgbClr val="00A4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: скругленные углы 10">
              <a:extLst>
                <a:ext uri="{FF2B5EF4-FFF2-40B4-BE49-F238E27FC236}">
                  <a16:creationId xmlns:a16="http://schemas.microsoft.com/office/drawing/2014/main" id="{20902C57-1C64-4D56-AE96-522AF50D0AB5}"/>
                </a:ext>
              </a:extLst>
            </p:cNvPr>
            <p:cNvSpPr/>
            <p:nvPr/>
          </p:nvSpPr>
          <p:spPr>
            <a:xfrm>
              <a:off x="10334089" y="1536718"/>
              <a:ext cx="619661" cy="3210533"/>
            </a:xfrm>
            <a:prstGeom prst="roundRect">
              <a:avLst>
                <a:gd name="adj" fmla="val 14383"/>
              </a:avLst>
            </a:prstGeom>
            <a:solidFill>
              <a:srgbClr val="00A4DE">
                <a:alpha val="40000"/>
              </a:srgbClr>
            </a:solidFill>
            <a:ln>
              <a:solidFill>
                <a:srgbClr val="00A4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09323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4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B3E934D-845A-47F5-BE11-71A0C5910EE9}"/>
              </a:ext>
            </a:extLst>
          </p:cNvPr>
          <p:cNvSpPr txBox="1">
            <a:spLocks/>
          </p:cNvSpPr>
          <p:nvPr/>
        </p:nvSpPr>
        <p:spPr>
          <a:xfrm>
            <a:off x="1775361" y="94374"/>
            <a:ext cx="8431481" cy="6448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Методология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BDBAD1C-0921-4AD2-9129-9159AD05095C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5632158" y="894461"/>
            <a:ext cx="5940425" cy="2573655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46B6B91-4833-4E68-98F0-6CD773FD79B7}"/>
              </a:ext>
            </a:extLst>
          </p:cNvPr>
          <p:cNvSpPr/>
          <p:nvPr/>
        </p:nvSpPr>
        <p:spPr>
          <a:xfrm>
            <a:off x="7176796" y="1845073"/>
            <a:ext cx="1809750" cy="1295400"/>
          </a:xfrm>
          <a:prstGeom prst="rect">
            <a:avLst/>
          </a:prstGeom>
          <a:solidFill>
            <a:srgbClr val="00B050">
              <a:alpha val="30000"/>
            </a:srgbClr>
          </a:solidFill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ru-RU"/>
          </a:p>
        </p:txBody>
      </p:sp>
      <p:pic>
        <p:nvPicPr>
          <p:cNvPr id="18435" name="Рисунок 13">
            <a:extLst>
              <a:ext uri="{FF2B5EF4-FFF2-40B4-BE49-F238E27FC236}">
                <a16:creationId xmlns:a16="http://schemas.microsoft.com/office/drawing/2014/main" id="{96FF621F-42BE-414A-9F41-5D99CCA0B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012" y="3615708"/>
            <a:ext cx="5695950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трелка: вниз 3">
            <a:extLst>
              <a:ext uri="{FF2B5EF4-FFF2-40B4-BE49-F238E27FC236}">
                <a16:creationId xmlns:a16="http://schemas.microsoft.com/office/drawing/2014/main" id="{7D51A67E-8460-4CF5-BB73-9BBC8CFB20DB}"/>
              </a:ext>
            </a:extLst>
          </p:cNvPr>
          <p:cNvSpPr/>
          <p:nvPr/>
        </p:nvSpPr>
        <p:spPr>
          <a:xfrm>
            <a:off x="7992771" y="3358270"/>
            <a:ext cx="336550" cy="260350"/>
          </a:xfrm>
          <a:prstGeom prst="downArrow">
            <a:avLst/>
          </a:prstGeom>
          <a:solidFill>
            <a:srgbClr val="00B050"/>
          </a:solidFill>
          <a:ln>
            <a:solidFill>
              <a:srgbClr val="0E96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55FC40DA-BD0E-43B9-B570-83774C402120}"/>
              </a:ext>
            </a:extLst>
          </p:cNvPr>
          <p:cNvSpPr txBox="1">
            <a:spLocks/>
          </p:cNvSpPr>
          <p:nvPr/>
        </p:nvSpPr>
        <p:spPr>
          <a:xfrm>
            <a:off x="773669" y="1352550"/>
            <a:ext cx="4598431" cy="44043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ru-RU" sz="1800" spc="-1" dirty="0">
                <a:solidFill>
                  <a:srgbClr val="000000"/>
                </a:solidFill>
                <a:latin typeface="Verdana"/>
              </a:rPr>
              <a:t>Выбрана модель </a:t>
            </a:r>
            <a:r>
              <a:rPr lang="en-US" sz="1800" spc="-1" dirty="0">
                <a:solidFill>
                  <a:srgbClr val="000000"/>
                </a:solidFill>
                <a:latin typeface="Verdana"/>
              </a:rPr>
              <a:t>FIRE (</a:t>
            </a:r>
            <a:r>
              <a:rPr lang="en-US" sz="1800" i="1" spc="-1" dirty="0">
                <a:solidFill>
                  <a:srgbClr val="000000"/>
                </a:solidFill>
                <a:latin typeface="Verdana"/>
              </a:rPr>
              <a:t>Frequency-guided Reconstruction Error</a:t>
            </a:r>
            <a:r>
              <a:rPr lang="en-US" sz="1800" spc="-1" dirty="0">
                <a:solidFill>
                  <a:srgbClr val="000000"/>
                </a:solidFill>
                <a:latin typeface="Verdana"/>
              </a:rPr>
              <a:t>) </a:t>
            </a:r>
            <a:r>
              <a:rPr lang="ru-RU" sz="1800" spc="-1" dirty="0">
                <a:solidFill>
                  <a:srgbClr val="000000"/>
                </a:solidFill>
                <a:latin typeface="Verdana"/>
              </a:rPr>
              <a:t>в качестве базовой модели, которая основана на ошибке реконструкции и фильтре среднечастотных компонентов изображения;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ru-RU" sz="1800" spc="-1" dirty="0">
              <a:solidFill>
                <a:srgbClr val="000000"/>
              </a:solidFill>
              <a:latin typeface="Verdana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ru-RU" sz="1800" spc="-1" dirty="0">
                <a:solidFill>
                  <a:srgbClr val="009218"/>
                </a:solidFill>
                <a:latin typeface="Verdana"/>
              </a:rPr>
              <a:t>Добавлен блок учёта текстовой информации об изображении, сгенерированный моделью </a:t>
            </a:r>
            <a:r>
              <a:rPr lang="en-US" sz="1800" spc="-1" dirty="0">
                <a:solidFill>
                  <a:srgbClr val="009218"/>
                </a:solidFill>
                <a:latin typeface="Verdana"/>
              </a:rPr>
              <a:t>BLIP (</a:t>
            </a:r>
            <a:r>
              <a:rPr lang="en-US" sz="1800" i="1" spc="-1" dirty="0">
                <a:solidFill>
                  <a:srgbClr val="009218"/>
                </a:solidFill>
                <a:latin typeface="Verdana"/>
              </a:rPr>
              <a:t>Bootstrapping Language-Image Pre-training</a:t>
            </a:r>
            <a:r>
              <a:rPr lang="en-US" sz="1800" spc="-1" dirty="0">
                <a:solidFill>
                  <a:srgbClr val="009218"/>
                </a:solidFill>
                <a:latin typeface="Verdana"/>
              </a:rPr>
              <a:t>)</a:t>
            </a:r>
            <a:r>
              <a:rPr lang="ru-RU" sz="1800" spc="-1" dirty="0">
                <a:solidFill>
                  <a:srgbClr val="009218"/>
                </a:solidFill>
                <a:latin typeface="Verdana"/>
              </a:rPr>
              <a:t>.</a:t>
            </a:r>
            <a:endParaRPr lang="ru-RU" sz="1800" spc="-1" dirty="0">
              <a:solidFill>
                <a:srgbClr val="009218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3701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5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B3E934D-845A-47F5-BE11-71A0C5910EE9}"/>
              </a:ext>
            </a:extLst>
          </p:cNvPr>
          <p:cNvSpPr txBox="1">
            <a:spLocks/>
          </p:cNvSpPr>
          <p:nvPr/>
        </p:nvSpPr>
        <p:spPr>
          <a:xfrm>
            <a:off x="1775361" y="94374"/>
            <a:ext cx="8431481" cy="6448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Результаты</a:t>
            </a:r>
          </a:p>
        </p:txBody>
      </p:sp>
      <p:sp>
        <p:nvSpPr>
          <p:cNvPr id="11" name="Надпись 18">
            <a:extLst>
              <a:ext uri="{FF2B5EF4-FFF2-40B4-BE49-F238E27FC236}">
                <a16:creationId xmlns:a16="http://schemas.microsoft.com/office/drawing/2014/main" id="{A87E8AE1-022D-48FA-BB6B-B97C314ED7D0}"/>
              </a:ext>
            </a:extLst>
          </p:cNvPr>
          <p:cNvSpPr txBox="1"/>
          <p:nvPr/>
        </p:nvSpPr>
        <p:spPr>
          <a:xfrm>
            <a:off x="849086" y="836365"/>
            <a:ext cx="5044123" cy="32385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FIRE-model (baseline) confusion matrix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Надпись 18">
            <a:extLst>
              <a:ext uri="{FF2B5EF4-FFF2-40B4-BE49-F238E27FC236}">
                <a16:creationId xmlns:a16="http://schemas.microsoft.com/office/drawing/2014/main" id="{07C6DFE0-F091-4754-8871-185FD26B6FD7}"/>
              </a:ext>
            </a:extLst>
          </p:cNvPr>
          <p:cNvSpPr txBox="1"/>
          <p:nvPr/>
        </p:nvSpPr>
        <p:spPr>
          <a:xfrm>
            <a:off x="6631028" y="839518"/>
            <a:ext cx="4921568" cy="32385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FIRE+BLIP-model (new) confusion matrix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AF95496E-93B3-4FE9-B448-11FC2B1A3034}"/>
              </a:ext>
            </a:extLst>
          </p:cNvPr>
          <p:cNvGrpSpPr/>
          <p:nvPr/>
        </p:nvGrpSpPr>
        <p:grpSpPr>
          <a:xfrm>
            <a:off x="1289399" y="1151084"/>
            <a:ext cx="10283184" cy="3506992"/>
            <a:chOff x="653795" y="1546016"/>
            <a:chExt cx="11042553" cy="3765968"/>
          </a:xfrm>
        </p:grpSpPr>
        <p:grpSp>
          <p:nvGrpSpPr>
            <p:cNvPr id="2" name="Группа 1">
              <a:extLst>
                <a:ext uri="{FF2B5EF4-FFF2-40B4-BE49-F238E27FC236}">
                  <a16:creationId xmlns:a16="http://schemas.microsoft.com/office/drawing/2014/main" id="{5EC4426E-AEDF-4F28-9423-19571C8DC96D}"/>
                </a:ext>
              </a:extLst>
            </p:cNvPr>
            <p:cNvGrpSpPr/>
            <p:nvPr/>
          </p:nvGrpSpPr>
          <p:grpSpPr>
            <a:xfrm>
              <a:off x="986118" y="1546016"/>
              <a:ext cx="10710230" cy="3765968"/>
              <a:chOff x="1299845" y="1335405"/>
              <a:chExt cx="10138373" cy="3564890"/>
            </a:xfrm>
          </p:grpSpPr>
          <p:pic>
            <p:nvPicPr>
              <p:cNvPr id="6" name="Рисунок 5">
                <a:extLst>
                  <a:ext uri="{FF2B5EF4-FFF2-40B4-BE49-F238E27FC236}">
                    <a16:creationId xmlns:a16="http://schemas.microsoft.com/office/drawing/2014/main" id="{AC62A5C5-4917-4C0E-8870-B9425FA1AF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47218" y="1335405"/>
                <a:ext cx="4191000" cy="3564890"/>
              </a:xfrm>
              <a:prstGeom prst="rect">
                <a:avLst/>
              </a:prstGeom>
            </p:spPr>
          </p:pic>
          <p:pic>
            <p:nvPicPr>
              <p:cNvPr id="7" name="Рисунок 6">
                <a:extLst>
                  <a:ext uri="{FF2B5EF4-FFF2-40B4-BE49-F238E27FC236}">
                    <a16:creationId xmlns:a16="http://schemas.microsoft.com/office/drawing/2014/main" id="{CB788976-3375-42D7-8DEC-A551C27B29E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9845" y="1393190"/>
                <a:ext cx="4182110" cy="3507105"/>
              </a:xfrm>
              <a:prstGeom prst="rect">
                <a:avLst/>
              </a:prstGeom>
            </p:spPr>
          </p:pic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627E994-498E-4826-8268-2633DDC6FCCF}"/>
                </a:ext>
              </a:extLst>
            </p:cNvPr>
            <p:cNvSpPr txBox="1"/>
            <p:nvPr/>
          </p:nvSpPr>
          <p:spPr>
            <a:xfrm>
              <a:off x="653795" y="3942379"/>
              <a:ext cx="64633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REAL</a:t>
              </a:r>
              <a:endParaRPr lang="ru-RU" sz="1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245E860-41DA-4406-A3EF-FBD255C9ECB0}"/>
                </a:ext>
              </a:extLst>
            </p:cNvPr>
            <p:cNvSpPr txBox="1"/>
            <p:nvPr/>
          </p:nvSpPr>
          <p:spPr>
            <a:xfrm>
              <a:off x="6945788" y="3942378"/>
              <a:ext cx="64633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REAL</a:t>
              </a:r>
              <a:endParaRPr lang="ru-RU" sz="1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0D531D-DC43-4E90-8CAB-CB99792EE1B1}"/>
                </a:ext>
              </a:extLst>
            </p:cNvPr>
            <p:cNvSpPr txBox="1"/>
            <p:nvPr/>
          </p:nvSpPr>
          <p:spPr>
            <a:xfrm>
              <a:off x="9771538" y="4945678"/>
              <a:ext cx="64633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REAL</a:t>
              </a:r>
              <a:endParaRPr lang="ru-RU" sz="1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CDC4E6-DC4A-4EE3-889F-3C9077020B97}"/>
                </a:ext>
              </a:extLst>
            </p:cNvPr>
            <p:cNvSpPr txBox="1"/>
            <p:nvPr/>
          </p:nvSpPr>
          <p:spPr>
            <a:xfrm>
              <a:off x="3491388" y="4987162"/>
              <a:ext cx="64633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REAL</a:t>
              </a:r>
              <a:endParaRPr lang="ru-RU" sz="1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5F92E8-D16A-48B8-9C4A-AB637D6D1F69}"/>
                </a:ext>
              </a:extLst>
            </p:cNvPr>
            <p:cNvSpPr txBox="1"/>
            <p:nvPr/>
          </p:nvSpPr>
          <p:spPr>
            <a:xfrm>
              <a:off x="679450" y="2315059"/>
              <a:ext cx="640753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FAKE</a:t>
              </a:r>
              <a:endParaRPr lang="ru-RU" sz="1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BFA7008-A307-4E9A-9AA2-89334601DB3C}"/>
                </a:ext>
              </a:extLst>
            </p:cNvPr>
            <p:cNvSpPr txBox="1"/>
            <p:nvPr/>
          </p:nvSpPr>
          <p:spPr>
            <a:xfrm>
              <a:off x="6971188" y="2276182"/>
              <a:ext cx="640753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FAKE</a:t>
              </a:r>
              <a:endParaRPr lang="ru-RU" sz="1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CB92A4A-C70F-4FEF-9C29-F353814A0EB5}"/>
                </a:ext>
              </a:extLst>
            </p:cNvPr>
            <p:cNvSpPr txBox="1"/>
            <p:nvPr/>
          </p:nvSpPr>
          <p:spPr>
            <a:xfrm>
              <a:off x="8139588" y="4968111"/>
              <a:ext cx="640753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FAKE</a:t>
              </a:r>
              <a:endParaRPr lang="ru-RU" sz="1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AF65E4-1890-4582-B1BC-36617B379845}"/>
                </a:ext>
              </a:extLst>
            </p:cNvPr>
            <p:cNvSpPr txBox="1"/>
            <p:nvPr/>
          </p:nvSpPr>
          <p:spPr>
            <a:xfrm>
              <a:off x="1866509" y="4980811"/>
              <a:ext cx="640753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Verdana" panose="020B0604030504040204" pitchFamily="34" charset="0"/>
                  <a:ea typeface="Verdana" panose="020B0604030504040204" pitchFamily="34" charset="0"/>
                </a:rPr>
                <a:t>FAKE</a:t>
              </a:r>
              <a:endParaRPr lang="ru-RU" sz="14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sp>
        <p:nvSpPr>
          <p:cNvPr id="23" name="Текст 3">
            <a:extLst>
              <a:ext uri="{FF2B5EF4-FFF2-40B4-BE49-F238E27FC236}">
                <a16:creationId xmlns:a16="http://schemas.microsoft.com/office/drawing/2014/main" id="{4AFAAC87-A0F5-4ABA-8267-3EF0400DC14B}"/>
              </a:ext>
            </a:extLst>
          </p:cNvPr>
          <p:cNvSpPr txBox="1">
            <a:spLocks/>
          </p:cNvSpPr>
          <p:nvPr/>
        </p:nvSpPr>
        <p:spPr>
          <a:xfrm>
            <a:off x="849086" y="4709734"/>
            <a:ext cx="10911114" cy="20796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 результате внедрения новой модели на одной и той же тренировочной и тестовой выборке получили следующие результаты: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снизился на </a:t>
            </a:r>
            <a:r>
              <a:rPr lang="ru-RU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5</a:t>
            </a:r>
            <a:r>
              <a:rPr lang="en-US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</a:t>
            </a:r>
            <a:r>
              <a:rPr lang="ru-RU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%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!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FN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снизился на </a:t>
            </a:r>
            <a:r>
              <a:rPr lang="ru-RU" sz="18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21%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Т.е. основной прирост произошёл в результате более лучшего предсказывания сгенерированных изображений.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ru-RU" sz="1800" spc="-1" dirty="0">
              <a:solidFill>
                <a:srgbClr val="000000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124474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3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B3E934D-845A-47F5-BE11-71A0C5910EE9}"/>
              </a:ext>
            </a:extLst>
          </p:cNvPr>
          <p:cNvSpPr txBox="1">
            <a:spLocks/>
          </p:cNvSpPr>
          <p:nvPr/>
        </p:nvSpPr>
        <p:spPr>
          <a:xfrm>
            <a:off x="1775361" y="94374"/>
            <a:ext cx="8431481" cy="6448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80F08D-BB1E-4CFF-BFD1-39C87D4A4A76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2179637" y="832684"/>
            <a:ext cx="7415213" cy="4160604"/>
          </a:xfrm>
          <a:prstGeom prst="rect">
            <a:avLst/>
          </a:prstGeom>
        </p:spPr>
      </p:pic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748DF644-DBA8-4C6F-B7E2-2D2D37D31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120348"/>
              </p:ext>
            </p:extLst>
          </p:nvPr>
        </p:nvGraphicFramePr>
        <p:xfrm>
          <a:off x="1706712" y="5146631"/>
          <a:ext cx="8986688" cy="14519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3242">
                  <a:extLst>
                    <a:ext uri="{9D8B030D-6E8A-4147-A177-3AD203B41FA5}">
                      <a16:colId xmlns:a16="http://schemas.microsoft.com/office/drawing/2014/main" val="1100603740"/>
                    </a:ext>
                  </a:extLst>
                </a:gridCol>
                <a:gridCol w="2600146">
                  <a:extLst>
                    <a:ext uri="{9D8B030D-6E8A-4147-A177-3AD203B41FA5}">
                      <a16:colId xmlns:a16="http://schemas.microsoft.com/office/drawing/2014/main" val="33458018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89690521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94984837"/>
                    </a:ext>
                  </a:extLst>
                </a:gridCol>
              </a:tblGrid>
              <a:tr h="29038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Метрика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Модель </a:t>
                      </a:r>
                      <a:r>
                        <a:rPr lang="en-US" sz="1800" dirty="0">
                          <a:effectLst/>
                        </a:rPr>
                        <a:t>FIRE</a:t>
                      </a:r>
                      <a:r>
                        <a:rPr lang="ru-RU" sz="1800" dirty="0">
                          <a:effectLst/>
                        </a:rPr>
                        <a:t> (базовая)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Модель FIRE+BL</a:t>
                      </a:r>
                      <a:r>
                        <a:rPr lang="en-US" sz="1800" dirty="0">
                          <a:effectLst/>
                        </a:rPr>
                        <a:t>IP (</a:t>
                      </a:r>
                      <a:r>
                        <a:rPr lang="ru-RU" sz="1800" dirty="0">
                          <a:effectLst/>
                        </a:rPr>
                        <a:t>новая)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∆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4283189"/>
                  </a:ext>
                </a:extLst>
              </a:tr>
              <a:tr h="290382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en-US" sz="1800" dirty="0">
                          <a:effectLst/>
                        </a:rPr>
                        <a:t>Accuracy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0</a:t>
                      </a:r>
                      <a:r>
                        <a:rPr lang="en-US" sz="1800" dirty="0">
                          <a:effectLst/>
                        </a:rPr>
                        <a:t>,</a:t>
                      </a:r>
                      <a:r>
                        <a:rPr lang="ru-RU" sz="1800" dirty="0">
                          <a:effectLst/>
                        </a:rPr>
                        <a:t>88 </a:t>
                      </a:r>
                      <a:r>
                        <a:rPr lang="en-US" sz="1800" dirty="0">
                          <a:effectLst/>
                        </a:rPr>
                        <a:t>– 0,</a:t>
                      </a:r>
                      <a:r>
                        <a:rPr lang="ru-RU" sz="1800" dirty="0">
                          <a:effectLst/>
                        </a:rPr>
                        <a:t>90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0,93</a:t>
                      </a:r>
                      <a:r>
                        <a:rPr lang="en-US" sz="1800" dirty="0">
                          <a:effectLst/>
                        </a:rPr>
                        <a:t> – </a:t>
                      </a:r>
                      <a:r>
                        <a:rPr lang="ru-RU" sz="1800" dirty="0">
                          <a:effectLst/>
                        </a:rPr>
                        <a:t>0,94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b="1" dirty="0">
                          <a:solidFill>
                            <a:srgbClr val="0E964F"/>
                          </a:solidFill>
                          <a:effectLst/>
                        </a:rPr>
                        <a:t>↑ 0,05</a:t>
                      </a:r>
                      <a:endParaRPr lang="ru-RU" sz="1800" b="1" dirty="0">
                        <a:solidFill>
                          <a:srgbClr val="0E964F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7608517"/>
                  </a:ext>
                </a:extLst>
              </a:tr>
              <a:tr h="290382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en-US" sz="1800" dirty="0">
                          <a:effectLst/>
                        </a:rPr>
                        <a:t>Precision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en-US" sz="1800" dirty="0">
                          <a:effectLst/>
                        </a:rPr>
                        <a:t>0</a:t>
                      </a:r>
                      <a:r>
                        <a:rPr lang="ru-RU" sz="1800" dirty="0">
                          <a:effectLst/>
                        </a:rPr>
                        <a:t>,83 </a:t>
                      </a:r>
                      <a:r>
                        <a:rPr lang="en-US" sz="1800" dirty="0">
                          <a:effectLst/>
                        </a:rPr>
                        <a:t>– </a:t>
                      </a:r>
                      <a:r>
                        <a:rPr lang="ru-RU" sz="1800" dirty="0">
                          <a:effectLst/>
                        </a:rPr>
                        <a:t>0,86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0,90 </a:t>
                      </a:r>
                      <a:r>
                        <a:rPr lang="en-US" sz="1800" dirty="0">
                          <a:effectLst/>
                        </a:rPr>
                        <a:t>– </a:t>
                      </a:r>
                      <a:r>
                        <a:rPr lang="ru-RU" sz="1800" dirty="0">
                          <a:effectLst/>
                        </a:rPr>
                        <a:t>0,92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b="1" dirty="0">
                          <a:solidFill>
                            <a:srgbClr val="0E964F"/>
                          </a:solidFill>
                          <a:effectLst/>
                        </a:rPr>
                        <a:t>↑ 0,07 </a:t>
                      </a:r>
                      <a:endParaRPr lang="ru-RU" sz="1800" b="1" dirty="0">
                        <a:solidFill>
                          <a:srgbClr val="0E964F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8332373"/>
                  </a:ext>
                </a:extLst>
              </a:tr>
              <a:tr h="290382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en-US" sz="1800" dirty="0">
                          <a:effectLst/>
                        </a:rPr>
                        <a:t>Recall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0,95 </a:t>
                      </a:r>
                      <a:r>
                        <a:rPr lang="en-US" sz="1800" dirty="0">
                          <a:effectLst/>
                        </a:rPr>
                        <a:t>– </a:t>
                      </a:r>
                      <a:r>
                        <a:rPr lang="ru-RU" sz="1800" dirty="0">
                          <a:effectLst/>
                        </a:rPr>
                        <a:t>0,96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0,96 </a:t>
                      </a:r>
                      <a:r>
                        <a:rPr lang="en-US" sz="1800" dirty="0">
                          <a:effectLst/>
                        </a:rPr>
                        <a:t>– </a:t>
                      </a:r>
                      <a:r>
                        <a:rPr lang="ru-RU" sz="1800" dirty="0">
                          <a:effectLst/>
                        </a:rPr>
                        <a:t>0,97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b="1" dirty="0">
                          <a:solidFill>
                            <a:srgbClr val="0E964F"/>
                          </a:solidFill>
                          <a:effectLst/>
                        </a:rPr>
                        <a:t>↑ 0,01 </a:t>
                      </a:r>
                      <a:endParaRPr lang="ru-RU" sz="1800" b="1" dirty="0">
                        <a:solidFill>
                          <a:srgbClr val="0E964F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825355"/>
                  </a:ext>
                </a:extLst>
              </a:tr>
              <a:tr h="290382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</a:pPr>
                      <a:r>
                        <a:rPr lang="en-US" sz="1800" dirty="0">
                          <a:effectLst/>
                        </a:rPr>
                        <a:t>F1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0,89 </a:t>
                      </a:r>
                      <a:r>
                        <a:rPr lang="en-US" sz="1800" dirty="0">
                          <a:effectLst/>
                        </a:rPr>
                        <a:t>– </a:t>
                      </a:r>
                      <a:r>
                        <a:rPr lang="ru-RU" sz="1800" dirty="0">
                          <a:effectLst/>
                        </a:rPr>
                        <a:t>0,90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dirty="0">
                          <a:effectLst/>
                        </a:rPr>
                        <a:t>0,93 </a:t>
                      </a:r>
                      <a:r>
                        <a:rPr lang="en-US" sz="1800" dirty="0">
                          <a:effectLst/>
                        </a:rPr>
                        <a:t>– </a:t>
                      </a:r>
                      <a:r>
                        <a:rPr lang="ru-RU" sz="1800" dirty="0">
                          <a:effectLst/>
                        </a:rPr>
                        <a:t>0,94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ru-RU" sz="1800" b="1" dirty="0">
                          <a:solidFill>
                            <a:srgbClr val="0E964F"/>
                          </a:solidFill>
                          <a:effectLst/>
                        </a:rPr>
                        <a:t>↑ 0,04 </a:t>
                      </a:r>
                      <a:endParaRPr lang="ru-RU" sz="1800" b="1" dirty="0">
                        <a:solidFill>
                          <a:srgbClr val="0E964F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5607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095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9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B3E934D-845A-47F5-BE11-71A0C5910EE9}"/>
              </a:ext>
            </a:extLst>
          </p:cNvPr>
          <p:cNvSpPr txBox="1">
            <a:spLocks/>
          </p:cNvSpPr>
          <p:nvPr/>
        </p:nvSpPr>
        <p:spPr>
          <a:xfrm>
            <a:off x="1775361" y="94374"/>
            <a:ext cx="8431481" cy="6448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4DE4861-D19D-41E8-95F5-A7B8344554D0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4522989" y="1042828"/>
            <a:ext cx="7049594" cy="48612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41EF72-E119-4CA7-BA27-173671C44615}"/>
              </a:ext>
            </a:extLst>
          </p:cNvPr>
          <p:cNvSpPr txBox="1"/>
          <p:nvPr/>
        </p:nvSpPr>
        <p:spPr>
          <a:xfrm>
            <a:off x="232560" y="1049645"/>
            <a:ext cx="429043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На изображениях, созданных генераторами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BigGAN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Wukong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модели не обучались, тем не менее точность предсказания возросла;</a:t>
            </a:r>
            <a:endParaRPr lang="ru-RU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Точность для </a:t>
            </a:r>
            <a:r>
              <a:rPr lang="en-US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BigGAN</a:t>
            </a:r>
            <a:r>
              <a:rPr lang="en-US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сильно низкая и подтверждает, что артефакты GAN принципиально отличаются от диффузионных;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Значимый прирост на наборе </a:t>
            </a:r>
            <a:r>
              <a:rPr lang="en-US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Wukong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свидетельствует о том, что FIRE+BLIP научилась выделять универсальные признаки, общие для диффузионных моделей.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274F091-16A6-44FE-AA80-9510F1B17E84}"/>
              </a:ext>
            </a:extLst>
          </p:cNvPr>
          <p:cNvSpPr/>
          <p:nvPr/>
        </p:nvSpPr>
        <p:spPr>
          <a:xfrm>
            <a:off x="4759048" y="1366533"/>
            <a:ext cx="4010302" cy="570217"/>
          </a:xfrm>
          <a:prstGeom prst="roundRect">
            <a:avLst>
              <a:gd name="adj" fmla="val 14383"/>
            </a:avLst>
          </a:prstGeom>
          <a:solidFill>
            <a:srgbClr val="00A4DE">
              <a:alpha val="40000"/>
            </a:srgbClr>
          </a:solidFill>
          <a:ln>
            <a:solidFill>
              <a:srgbClr val="00A4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EB013931-E72D-46FD-ACCD-9DE1B95BD5F7}"/>
              </a:ext>
            </a:extLst>
          </p:cNvPr>
          <p:cNvSpPr/>
          <p:nvPr/>
        </p:nvSpPr>
        <p:spPr>
          <a:xfrm>
            <a:off x="4759048" y="3131833"/>
            <a:ext cx="6143902" cy="570217"/>
          </a:xfrm>
          <a:prstGeom prst="roundRect">
            <a:avLst>
              <a:gd name="adj" fmla="val 14383"/>
            </a:avLst>
          </a:prstGeom>
          <a:solidFill>
            <a:srgbClr val="00A4DE">
              <a:alpha val="40000"/>
            </a:srgbClr>
          </a:solidFill>
          <a:ln>
            <a:solidFill>
              <a:srgbClr val="00A4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344643-23EF-4BC6-BD6A-3A49D6D4BACF}"/>
              </a:ext>
            </a:extLst>
          </p:cNvPr>
          <p:cNvSpPr txBox="1"/>
          <p:nvPr/>
        </p:nvSpPr>
        <p:spPr>
          <a:xfrm>
            <a:off x="5360472" y="795638"/>
            <a:ext cx="5735861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</a:rPr>
              <a:t>Сравнение точности </a:t>
            </a:r>
            <a:r>
              <a:rPr lang="en-US" sz="1100" dirty="0">
                <a:latin typeface="Verdana" panose="020B0604030504040204" pitchFamily="34" charset="0"/>
                <a:ea typeface="Verdana" panose="020B0604030504040204" pitchFamily="34" charset="0"/>
              </a:rPr>
              <a:t>(accuracy) </a:t>
            </a:r>
            <a:r>
              <a:rPr lang="ru-RU" sz="1100" dirty="0">
                <a:latin typeface="Verdana" panose="020B0604030504040204" pitchFamily="34" charset="0"/>
                <a:ea typeface="Verdana" panose="020B0604030504040204" pitchFamily="34" charset="0"/>
              </a:rPr>
              <a:t>моделей на изображениях созданных различными генераторами</a:t>
            </a:r>
          </a:p>
        </p:txBody>
      </p:sp>
    </p:spTree>
    <p:extLst>
      <p:ext uri="{BB962C8B-B14F-4D97-AF65-F5344CB8AC3E}">
        <p14:creationId xmlns:p14="http://schemas.microsoft.com/office/powerpoint/2010/main" val="2556110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6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B3E934D-845A-47F5-BE11-71A0C5910EE9}"/>
              </a:ext>
            </a:extLst>
          </p:cNvPr>
          <p:cNvSpPr txBox="1">
            <a:spLocks/>
          </p:cNvSpPr>
          <p:nvPr/>
        </p:nvSpPr>
        <p:spPr>
          <a:xfrm>
            <a:off x="1775361" y="94374"/>
            <a:ext cx="8431481" cy="6448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Интерпретация результатов</a:t>
            </a:r>
          </a:p>
        </p:txBody>
      </p:sp>
      <p:grpSp>
        <p:nvGrpSpPr>
          <p:cNvPr id="6" name="Полотно 73">
            <a:extLst>
              <a:ext uri="{FF2B5EF4-FFF2-40B4-BE49-F238E27FC236}">
                <a16:creationId xmlns:a16="http://schemas.microsoft.com/office/drawing/2014/main" id="{EF372CA9-C9B6-4256-A911-313B2B23C461}"/>
              </a:ext>
            </a:extLst>
          </p:cNvPr>
          <p:cNvGrpSpPr/>
          <p:nvPr/>
        </p:nvGrpSpPr>
        <p:grpSpPr>
          <a:xfrm>
            <a:off x="744818" y="846965"/>
            <a:ext cx="7046632" cy="3157373"/>
            <a:chOff x="0" y="0"/>
            <a:chExt cx="6015990" cy="2695575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559FE00E-DA7D-4E45-82BE-D8651561036A}"/>
                </a:ext>
              </a:extLst>
            </p:cNvPr>
            <p:cNvSpPr/>
            <p:nvPr/>
          </p:nvSpPr>
          <p:spPr>
            <a:xfrm>
              <a:off x="0" y="0"/>
              <a:ext cx="6015990" cy="2695575"/>
            </a:xfrm>
            <a:prstGeom prst="rect">
              <a:avLst/>
            </a:prstGeom>
            <a:solidFill>
              <a:prstClr val="white"/>
            </a:solidFill>
          </p:spPr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98A76971-2D3C-441A-A655-67A5368C6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917" y="239306"/>
              <a:ext cx="2961290" cy="2267608"/>
            </a:xfrm>
            <a:prstGeom prst="rect">
              <a:avLst/>
            </a:prstGeom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61A74FBC-5C47-4119-8B1B-28493C525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27960" y="239251"/>
              <a:ext cx="2988030" cy="2267279"/>
            </a:xfrm>
            <a:prstGeom prst="rect">
              <a:avLst/>
            </a:prstGeom>
          </p:spPr>
        </p:pic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DF90206-F206-4D9C-BD75-B212A8716A8E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7857763" y="1129551"/>
            <a:ext cx="3453888" cy="2655703"/>
          </a:xfrm>
          <a:prstGeom prst="rect">
            <a:avLst/>
          </a:prstGeom>
        </p:spPr>
      </p:pic>
      <p:sp>
        <p:nvSpPr>
          <p:cNvPr id="14" name="Текст 3">
            <a:extLst>
              <a:ext uri="{FF2B5EF4-FFF2-40B4-BE49-F238E27FC236}">
                <a16:creationId xmlns:a16="http://schemas.microsoft.com/office/drawing/2014/main" id="{C87FAFE0-0641-4962-8000-34B9D2DEE822}"/>
              </a:ext>
            </a:extLst>
          </p:cNvPr>
          <p:cNvSpPr txBox="1">
            <a:spLocks/>
          </p:cNvSpPr>
          <p:nvPr/>
        </p:nvSpPr>
        <p:spPr>
          <a:xfrm>
            <a:off x="1112656" y="3794788"/>
            <a:ext cx="2532863" cy="74591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ru-RU" sz="16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pvalue</a:t>
            </a:r>
            <a:r>
              <a:rPr lang="ru-RU" sz="1600" b="1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= 0.0091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r = 0.0625</a:t>
            </a:r>
            <a:r>
              <a:rPr lang="ru-RU" sz="1600" spc="-1" dirty="0">
                <a:solidFill>
                  <a:srgbClr val="000000"/>
                </a:solidFill>
                <a:latin typeface="Verdana"/>
              </a:rPr>
              <a:t>;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ru-RU" sz="1600" spc="-1" dirty="0">
              <a:solidFill>
                <a:srgbClr val="000000"/>
              </a:solidFill>
              <a:latin typeface="Verdana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ru-RU" sz="1600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5B538805-FBB9-4410-BF0C-A21D37B5FD01}"/>
              </a:ext>
            </a:extLst>
          </p:cNvPr>
          <p:cNvSpPr txBox="1">
            <a:spLocks/>
          </p:cNvSpPr>
          <p:nvPr/>
        </p:nvSpPr>
        <p:spPr>
          <a:xfrm>
            <a:off x="4573821" y="3766930"/>
            <a:ext cx="3044358" cy="74591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ru-RU" sz="16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pvalue</a:t>
            </a:r>
            <a:r>
              <a:rPr lang="ru-RU" sz="1600" b="1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= 0.0000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r = 0.0935</a:t>
            </a:r>
            <a:r>
              <a:rPr lang="ru-RU" sz="1600" spc="-1" dirty="0">
                <a:solidFill>
                  <a:srgbClr val="000000"/>
                </a:solidFill>
                <a:latin typeface="Verdana"/>
              </a:rPr>
              <a:t>;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ru-RU" sz="1600" spc="-1" dirty="0">
              <a:solidFill>
                <a:srgbClr val="000000"/>
              </a:solidFill>
              <a:latin typeface="Verdana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ru-RU" sz="1600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71483912-DB35-4D93-B6F9-439202C64757}"/>
              </a:ext>
            </a:extLst>
          </p:cNvPr>
          <p:cNvSpPr txBox="1">
            <a:spLocks/>
          </p:cNvSpPr>
          <p:nvPr/>
        </p:nvSpPr>
        <p:spPr>
          <a:xfrm>
            <a:off x="8177866" y="3782088"/>
            <a:ext cx="3133785" cy="8343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ru-RU" sz="16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pvalue</a:t>
            </a:r>
            <a:r>
              <a:rPr lang="ru-RU" sz="1600" b="1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= 0.0000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r = -0.0867</a:t>
            </a:r>
            <a:r>
              <a:rPr lang="ru-RU" sz="1600" spc="-1" dirty="0">
                <a:solidFill>
                  <a:srgbClr val="000000"/>
                </a:solidFill>
                <a:latin typeface="Verdana"/>
              </a:rPr>
              <a:t>;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ru-RU" sz="1600" spc="-1" dirty="0">
              <a:solidFill>
                <a:srgbClr val="000000"/>
              </a:solidFill>
              <a:latin typeface="Verdana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ru-RU" sz="1600" spc="-1" dirty="0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A7EF10B6-1459-4966-8EAC-803396239B99}"/>
              </a:ext>
            </a:extLst>
          </p:cNvPr>
          <p:cNvSpPr txBox="1">
            <a:spLocks/>
          </p:cNvSpPr>
          <p:nvPr/>
        </p:nvSpPr>
        <p:spPr>
          <a:xfrm>
            <a:off x="1314450" y="4820617"/>
            <a:ext cx="6203950" cy="194300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spc="-1" dirty="0">
                <a:solidFill>
                  <a:srgbClr val="000000"/>
                </a:solidFill>
                <a:latin typeface="Verdana"/>
              </a:rPr>
              <a:t>1. В обеих моделях (FIRE и FIRE+BLIP) наблюдается положительная корреляция: чем выше ошибка реконструкции, тем выше оценка «реальности» изображения.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spc="-1" dirty="0">
                <a:solidFill>
                  <a:srgbClr val="000000"/>
                </a:solidFill>
                <a:latin typeface="Verdana"/>
              </a:rPr>
              <a:t>2. Корреляция усиливается в новой модели (FIRE+BLIP), что указывает на более выраженную зависимость выхода модели от ошибки реконструкции.</a:t>
            </a:r>
          </a:p>
        </p:txBody>
      </p:sp>
      <p:sp>
        <p:nvSpPr>
          <p:cNvPr id="2" name="Левая фигурная скобка 1">
            <a:extLst>
              <a:ext uri="{FF2B5EF4-FFF2-40B4-BE49-F238E27FC236}">
                <a16:creationId xmlns:a16="http://schemas.microsoft.com/office/drawing/2014/main" id="{78DE57D8-4D82-4E5C-B9F2-97301BE7BCB0}"/>
              </a:ext>
            </a:extLst>
          </p:cNvPr>
          <p:cNvSpPr/>
          <p:nvPr/>
        </p:nvSpPr>
        <p:spPr>
          <a:xfrm rot="16200000">
            <a:off x="4341125" y="1238744"/>
            <a:ext cx="288634" cy="6744647"/>
          </a:xfrm>
          <a:prstGeom prst="leftBrace">
            <a:avLst>
              <a:gd name="adj1" fmla="val 37927"/>
              <a:gd name="adj2" fmla="val 5010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9335C028-57FE-4461-B9F1-9F1F7F7762C9}"/>
              </a:ext>
            </a:extLst>
          </p:cNvPr>
          <p:cNvSpPr txBox="1">
            <a:spLocks/>
          </p:cNvSpPr>
          <p:nvPr/>
        </p:nvSpPr>
        <p:spPr>
          <a:xfrm>
            <a:off x="7984766" y="4820617"/>
            <a:ext cx="3777450" cy="194300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ru-RU" sz="1600" spc="-1" dirty="0">
                <a:solidFill>
                  <a:srgbClr val="000000"/>
                </a:solidFill>
                <a:latin typeface="Verdana"/>
              </a:rPr>
              <a:t>Чем лучше описание соответствует изображению, тем сильнее модель склоняется к классификации изображения как «сгенерированного» (отрицательная корреляция).</a:t>
            </a:r>
          </a:p>
        </p:txBody>
      </p:sp>
      <p:sp>
        <p:nvSpPr>
          <p:cNvPr id="17" name="Левая фигурная скобка 16">
            <a:extLst>
              <a:ext uri="{FF2B5EF4-FFF2-40B4-BE49-F238E27FC236}">
                <a16:creationId xmlns:a16="http://schemas.microsoft.com/office/drawing/2014/main" id="{C93AC9C3-BD85-4646-9B24-EFB031416BE3}"/>
              </a:ext>
            </a:extLst>
          </p:cNvPr>
          <p:cNvSpPr/>
          <p:nvPr/>
        </p:nvSpPr>
        <p:spPr>
          <a:xfrm rot="16200000">
            <a:off x="9600441" y="2912207"/>
            <a:ext cx="288634" cy="3372322"/>
          </a:xfrm>
          <a:prstGeom prst="leftBrace">
            <a:avLst>
              <a:gd name="adj1" fmla="val 37927"/>
              <a:gd name="adj2" fmla="val 5010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509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9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B3E934D-845A-47F5-BE11-71A0C5910EE9}"/>
              </a:ext>
            </a:extLst>
          </p:cNvPr>
          <p:cNvSpPr txBox="1">
            <a:spLocks/>
          </p:cNvSpPr>
          <p:nvPr/>
        </p:nvSpPr>
        <p:spPr>
          <a:xfrm>
            <a:off x="1775361" y="94374"/>
            <a:ext cx="8431481" cy="6448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Визуализация</a:t>
            </a:r>
          </a:p>
        </p:txBody>
      </p:sp>
      <p:grpSp>
        <p:nvGrpSpPr>
          <p:cNvPr id="15" name="Полотно 32">
            <a:extLst>
              <a:ext uri="{FF2B5EF4-FFF2-40B4-BE49-F238E27FC236}">
                <a16:creationId xmlns:a16="http://schemas.microsoft.com/office/drawing/2014/main" id="{FA5DF489-D808-49E8-91CF-29C93D8C8ECD}"/>
              </a:ext>
            </a:extLst>
          </p:cNvPr>
          <p:cNvGrpSpPr/>
          <p:nvPr/>
        </p:nvGrpSpPr>
        <p:grpSpPr>
          <a:xfrm>
            <a:off x="443482" y="1682120"/>
            <a:ext cx="5193153" cy="2793680"/>
            <a:chOff x="0" y="0"/>
            <a:chExt cx="5972810" cy="3213100"/>
          </a:xfrm>
        </p:grpSpPr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3D957B5-DAF8-4881-8DB0-06520535DF02}"/>
                </a:ext>
              </a:extLst>
            </p:cNvPr>
            <p:cNvSpPr/>
            <p:nvPr/>
          </p:nvSpPr>
          <p:spPr>
            <a:xfrm>
              <a:off x="0" y="0"/>
              <a:ext cx="5972810" cy="3213100"/>
            </a:xfrm>
            <a:prstGeom prst="rect">
              <a:avLst/>
            </a:prstGeom>
            <a:solidFill>
              <a:prstClr val="white"/>
            </a:solidFill>
          </p:spPr>
        </p:sp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BBF867A0-F43D-4FA2-B052-E993D0223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0004" y="47665"/>
              <a:ext cx="5607617" cy="1503029"/>
            </a:xfrm>
            <a:prstGeom prst="rect">
              <a:avLst/>
            </a:prstGeom>
          </p:spPr>
        </p:pic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28EF3E4-450E-4216-851C-778DC6B3F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4379" y="1491312"/>
              <a:ext cx="5643245" cy="1554835"/>
            </a:xfrm>
            <a:prstGeom prst="rect">
              <a:avLst/>
            </a:prstGeom>
          </p:spPr>
        </p:pic>
      </p:grpSp>
      <p:grpSp>
        <p:nvGrpSpPr>
          <p:cNvPr id="19" name="Полотно 49">
            <a:extLst>
              <a:ext uri="{FF2B5EF4-FFF2-40B4-BE49-F238E27FC236}">
                <a16:creationId xmlns:a16="http://schemas.microsoft.com/office/drawing/2014/main" id="{1CE393C9-B070-4B23-B508-2902225F0A71}"/>
              </a:ext>
            </a:extLst>
          </p:cNvPr>
          <p:cNvGrpSpPr/>
          <p:nvPr/>
        </p:nvGrpSpPr>
        <p:grpSpPr>
          <a:xfrm>
            <a:off x="6477898" y="1677382"/>
            <a:ext cx="5145243" cy="2491278"/>
            <a:chOff x="0" y="0"/>
            <a:chExt cx="5643245" cy="2732405"/>
          </a:xfrm>
        </p:grpSpPr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C4ABD6F9-7952-4724-928F-A0449A3B316A}"/>
                </a:ext>
              </a:extLst>
            </p:cNvPr>
            <p:cNvSpPr/>
            <p:nvPr/>
          </p:nvSpPr>
          <p:spPr>
            <a:xfrm>
              <a:off x="0" y="0"/>
              <a:ext cx="5643245" cy="2732405"/>
            </a:xfrm>
            <a:prstGeom prst="rect">
              <a:avLst/>
            </a:prstGeom>
            <a:solidFill>
              <a:prstClr val="white"/>
            </a:solidFill>
          </p:spPr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B86E44BA-C611-4C85-BDD6-0F64C9BC8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154379"/>
              <a:ext cx="5643245" cy="1095051"/>
            </a:xfrm>
            <a:prstGeom prst="rect">
              <a:avLst/>
            </a:prstGeom>
          </p:spPr>
        </p:pic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8241AF15-E72C-4C09-9D89-715822824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1448790"/>
              <a:ext cx="5643245" cy="1112401"/>
            </a:xfrm>
            <a:prstGeom prst="rect">
              <a:avLst/>
            </a:prstGeom>
          </p:spPr>
        </p:pic>
      </p:grpSp>
      <p:sp>
        <p:nvSpPr>
          <p:cNvPr id="33" name="Надпись 18">
            <a:extLst>
              <a:ext uri="{FF2B5EF4-FFF2-40B4-BE49-F238E27FC236}">
                <a16:creationId xmlns:a16="http://schemas.microsoft.com/office/drawing/2014/main" id="{EDA69D48-B3D5-43BE-9EC4-2C31CC1DEDFD}"/>
              </a:ext>
            </a:extLst>
          </p:cNvPr>
          <p:cNvSpPr txBox="1"/>
          <p:nvPr/>
        </p:nvSpPr>
        <p:spPr>
          <a:xfrm>
            <a:off x="443482" y="1287415"/>
            <a:ext cx="5044123" cy="32385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indent="450215" algn="just"/>
            <a:r>
              <a:rPr lang="ru-RU" sz="1600" b="1" u="sng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Минимальная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ошибка реконструкции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Надпись 18">
            <a:extLst>
              <a:ext uri="{FF2B5EF4-FFF2-40B4-BE49-F238E27FC236}">
                <a16:creationId xmlns:a16="http://schemas.microsoft.com/office/drawing/2014/main" id="{A8E0567A-1355-415A-A311-A194801B8321}"/>
              </a:ext>
            </a:extLst>
          </p:cNvPr>
          <p:cNvSpPr txBox="1"/>
          <p:nvPr/>
        </p:nvSpPr>
        <p:spPr>
          <a:xfrm>
            <a:off x="6477898" y="1262649"/>
            <a:ext cx="5044123" cy="32385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indent="450215" algn="just"/>
            <a:r>
              <a:rPr lang="ru-RU" sz="1600" b="1" u="sng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Максимальная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ошибка реконструкции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Текст 3">
            <a:extLst>
              <a:ext uri="{FF2B5EF4-FFF2-40B4-BE49-F238E27FC236}">
                <a16:creationId xmlns:a16="http://schemas.microsoft.com/office/drawing/2014/main" id="{845D93D1-6085-459A-BB9E-D30CE1E12D7F}"/>
              </a:ext>
            </a:extLst>
          </p:cNvPr>
          <p:cNvSpPr txBox="1">
            <a:spLocks/>
          </p:cNvSpPr>
          <p:nvPr/>
        </p:nvSpPr>
        <p:spPr>
          <a:xfrm>
            <a:off x="585285" y="4475801"/>
            <a:ext cx="4739159" cy="179698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ru-RU" sz="1800" i="1" spc="-1" dirty="0">
                <a:solidFill>
                  <a:srgbClr val="000000"/>
                </a:solidFill>
                <a:latin typeface="Verdana"/>
              </a:rPr>
              <a:t>Одни и те же изображения для обоих моделей имеют наименьшую ошибку реконструкции. Характерная черта - размытые и нечеткие изображения</a:t>
            </a:r>
          </a:p>
        </p:txBody>
      </p:sp>
      <p:sp>
        <p:nvSpPr>
          <p:cNvPr id="40" name="Текст 3">
            <a:extLst>
              <a:ext uri="{FF2B5EF4-FFF2-40B4-BE49-F238E27FC236}">
                <a16:creationId xmlns:a16="http://schemas.microsoft.com/office/drawing/2014/main" id="{03024FE8-D2E6-4951-996F-F45E3F39584B}"/>
              </a:ext>
            </a:extLst>
          </p:cNvPr>
          <p:cNvSpPr txBox="1">
            <a:spLocks/>
          </p:cNvSpPr>
          <p:nvPr/>
        </p:nvSpPr>
        <p:spPr>
          <a:xfrm>
            <a:off x="6680941" y="4475800"/>
            <a:ext cx="4739159" cy="19707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ru-RU" sz="1800" i="1" spc="-1" dirty="0">
                <a:solidFill>
                  <a:srgbClr val="000000"/>
                </a:solidFill>
                <a:latin typeface="Verdana"/>
              </a:rPr>
              <a:t>Одни и те же изображения для обоих моделей имеют наибольшую ошибку реконструкции. Характерная черта – отсутствие фона на изображении.</a:t>
            </a:r>
          </a:p>
        </p:txBody>
      </p:sp>
    </p:spTree>
    <p:extLst>
      <p:ext uri="{BB962C8B-B14F-4D97-AF65-F5344CB8AC3E}">
        <p14:creationId xmlns:p14="http://schemas.microsoft.com/office/powerpoint/2010/main" val="3904834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3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05C58E1-8440-4B9E-827D-7F6203B88229}"/>
              </a:ext>
            </a:extLst>
          </p:cNvPr>
          <p:cNvSpPr txBox="1">
            <a:spLocks/>
          </p:cNvSpPr>
          <p:nvPr/>
        </p:nvSpPr>
        <p:spPr>
          <a:xfrm>
            <a:off x="2627146" y="94374"/>
            <a:ext cx="6937708" cy="6448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C6AD14-8D8B-490D-93EE-E00E6C622F26}"/>
              </a:ext>
            </a:extLst>
          </p:cNvPr>
          <p:cNvSpPr txBox="1"/>
          <p:nvPr/>
        </p:nvSpPr>
        <p:spPr>
          <a:xfrm>
            <a:off x="492034" y="910357"/>
            <a:ext cx="11207932" cy="5668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Результаты: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 algn="just">
              <a:lnSpc>
                <a:spcPct val="150000"/>
              </a:lnSpc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Осуществлена разработка более эффективного алгоритма детектирования изображений, сгенерированных диффузионными моделями.</a:t>
            </a:r>
          </a:p>
          <a:p>
            <a:pPr marL="457200" lvl="0" indent="-457200" algn="just">
              <a:lnSpc>
                <a:spcPct val="150000"/>
              </a:lnSpc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Решена задача классификации синтетического контента с высокой точностью, превосходя существующие аналоги на 5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%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за счёт комбинации частотного анализа и мультимодальных данных.</a:t>
            </a:r>
          </a:p>
          <a:p>
            <a:pPr lvl="0" algn="just">
              <a:lnSpc>
                <a:spcPct val="150000"/>
              </a:lnSpc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Перспективы: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Расширение функционала модели для поддержки гибридных генераторов (GAN и DM).</a:t>
            </a:r>
            <a:endParaRPr lang="ru-RU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Оптимизация вычислительной эффективности.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Интеграция методов устойчивости к атакам на изображения.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Разработка приложений реального времени для обнаружения синтетический изображений.</a:t>
            </a:r>
          </a:p>
        </p:txBody>
      </p:sp>
    </p:spTree>
    <p:extLst>
      <p:ext uri="{BB962C8B-B14F-4D97-AF65-F5344CB8AC3E}">
        <p14:creationId xmlns:p14="http://schemas.microsoft.com/office/powerpoint/2010/main" val="3581856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54406" cy="685800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 t="12302" r="3901" b="12632"/>
          <a:stretch/>
        </p:blipFill>
        <p:spPr>
          <a:xfrm>
            <a:off x="2311015" y="532290"/>
            <a:ext cx="2229493" cy="1301015"/>
          </a:xfrm>
          <a:prstGeom prst="rect">
            <a:avLst/>
          </a:prstGeom>
        </p:spPr>
      </p:pic>
      <p:graphicFrame>
        <p:nvGraphicFramePr>
          <p:cNvPr id="15" name="Объект 14"/>
          <p:cNvGraphicFramePr>
            <a:graphicFrameLocks noChangeAspect="1"/>
          </p:cNvGraphicFramePr>
          <p:nvPr/>
        </p:nvGraphicFramePr>
        <p:xfrm>
          <a:off x="9841661" y="565277"/>
          <a:ext cx="1145277" cy="502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8" name="CorelDRAW" r:id="rId5" imgW="3084412" imgH="1354813" progId="CorelDraw.Graphic.22">
                  <p:embed/>
                </p:oleObj>
              </mc:Choice>
              <mc:Fallback>
                <p:oleObj name="CorelDRAW" r:id="rId5" imgW="3084412" imgH="1354813" progId="CorelDraw.Graphic.22">
                  <p:embed/>
                  <p:pic>
                    <p:nvPicPr>
                      <p:cNvPr id="15" name="Объект 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41661" y="565277"/>
                        <a:ext cx="1145277" cy="502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>
          <a:xfrm>
            <a:off x="2959048" y="2112832"/>
            <a:ext cx="7000504" cy="81346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5C5C00-68A5-40FD-837A-46AF7B3B961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272" y="2855485"/>
            <a:ext cx="1804255" cy="18042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1EFD1B-7665-4E35-BE80-DAFEFFAB8389}"/>
              </a:ext>
            </a:extLst>
          </p:cNvPr>
          <p:cNvSpPr txBox="1"/>
          <p:nvPr/>
        </p:nvSpPr>
        <p:spPr>
          <a:xfrm>
            <a:off x="4727548" y="4683980"/>
            <a:ext cx="32857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Scan me </a:t>
            </a:r>
          </a:p>
          <a:p>
            <a:pPr algn="ctr"/>
            <a:r>
              <a:rPr lang="en-US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for source code on GitHub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6888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B3E934D-845A-47F5-BE11-71A0C5910EE9}"/>
              </a:ext>
            </a:extLst>
          </p:cNvPr>
          <p:cNvSpPr txBox="1">
            <a:spLocks/>
          </p:cNvSpPr>
          <p:nvPr/>
        </p:nvSpPr>
        <p:spPr>
          <a:xfrm>
            <a:off x="1775361" y="94374"/>
            <a:ext cx="8431481" cy="6448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altLang="ru-RU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Визуализация</a:t>
            </a:r>
          </a:p>
        </p:txBody>
      </p:sp>
      <p:sp>
        <p:nvSpPr>
          <p:cNvPr id="20" name="Надпись 18">
            <a:extLst>
              <a:ext uri="{FF2B5EF4-FFF2-40B4-BE49-F238E27FC236}">
                <a16:creationId xmlns:a16="http://schemas.microsoft.com/office/drawing/2014/main" id="{1F173744-ECB9-435C-8811-40C9A289D456}"/>
              </a:ext>
            </a:extLst>
          </p:cNvPr>
          <p:cNvSpPr txBox="1"/>
          <p:nvPr/>
        </p:nvSpPr>
        <p:spPr>
          <a:xfrm>
            <a:off x="3350887" y="818178"/>
            <a:ext cx="5044123" cy="32385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FIRE-model (baseline)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Надпись 18">
            <a:extLst>
              <a:ext uri="{FF2B5EF4-FFF2-40B4-BE49-F238E27FC236}">
                <a16:creationId xmlns:a16="http://schemas.microsoft.com/office/drawing/2014/main" id="{4960B229-E2B9-446B-A23A-C3F3BE986500}"/>
              </a:ext>
            </a:extLst>
          </p:cNvPr>
          <p:cNvSpPr txBox="1"/>
          <p:nvPr/>
        </p:nvSpPr>
        <p:spPr>
          <a:xfrm>
            <a:off x="3249287" y="3820669"/>
            <a:ext cx="5044123" cy="32385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FIRE+BLIP-model (new)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CE02B6-FD24-440F-B84C-CED25791A5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2082" y="1155612"/>
            <a:ext cx="9018038" cy="239749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90E3D6E-C531-42D3-956C-3B363D6A6D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2082" y="4211954"/>
            <a:ext cx="9018038" cy="2381687"/>
          </a:xfrm>
          <a:prstGeom prst="rect">
            <a:avLst/>
          </a:prstGeom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1A02B7E-4568-4288-B31B-AEDD1281E13B}"/>
              </a:ext>
            </a:extLst>
          </p:cNvPr>
          <p:cNvSpPr/>
          <p:nvPr/>
        </p:nvSpPr>
        <p:spPr>
          <a:xfrm>
            <a:off x="5034644" y="2588985"/>
            <a:ext cx="1016000" cy="1044997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703F2707-EB1E-4252-B750-19EAA28FD73E}"/>
              </a:ext>
            </a:extLst>
          </p:cNvPr>
          <p:cNvSpPr/>
          <p:nvPr/>
        </p:nvSpPr>
        <p:spPr>
          <a:xfrm>
            <a:off x="1389744" y="2588985"/>
            <a:ext cx="1016000" cy="1044997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F3FE725A-C291-4C6D-A8C0-1D7FFCA00DCF}"/>
              </a:ext>
            </a:extLst>
          </p:cNvPr>
          <p:cNvSpPr/>
          <p:nvPr/>
        </p:nvSpPr>
        <p:spPr>
          <a:xfrm>
            <a:off x="3212194" y="2588985"/>
            <a:ext cx="1016000" cy="1044997"/>
          </a:xfrm>
          <a:prstGeom prst="roundRect">
            <a:avLst/>
          </a:prstGeom>
          <a:solidFill>
            <a:srgbClr val="FF00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EED94ECB-FC77-47A2-BDE3-322B5E87FB7E}"/>
              </a:ext>
            </a:extLst>
          </p:cNvPr>
          <p:cNvSpPr/>
          <p:nvPr/>
        </p:nvSpPr>
        <p:spPr>
          <a:xfrm>
            <a:off x="5034644" y="5651588"/>
            <a:ext cx="1016000" cy="1044997"/>
          </a:xfrm>
          <a:prstGeom prst="roundRect">
            <a:avLst/>
          </a:prstGeom>
          <a:solidFill>
            <a:srgbClr val="00B050">
              <a:alpha val="3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375D64A1-B0EA-4E12-9679-346F5B595EA6}"/>
              </a:ext>
            </a:extLst>
          </p:cNvPr>
          <p:cNvSpPr/>
          <p:nvPr/>
        </p:nvSpPr>
        <p:spPr>
          <a:xfrm>
            <a:off x="1389744" y="5651588"/>
            <a:ext cx="1016000" cy="1044997"/>
          </a:xfrm>
          <a:prstGeom prst="roundRect">
            <a:avLst/>
          </a:prstGeom>
          <a:solidFill>
            <a:srgbClr val="00B050">
              <a:alpha val="3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6AB69A73-1865-41F9-8B6B-5F6B899D5A0D}"/>
              </a:ext>
            </a:extLst>
          </p:cNvPr>
          <p:cNvSpPr/>
          <p:nvPr/>
        </p:nvSpPr>
        <p:spPr>
          <a:xfrm>
            <a:off x="3212194" y="5651588"/>
            <a:ext cx="1016000" cy="1044997"/>
          </a:xfrm>
          <a:prstGeom prst="roundRect">
            <a:avLst/>
          </a:prstGeom>
          <a:solidFill>
            <a:srgbClr val="00B050">
              <a:alpha val="3000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BF9E7B69-8936-4E4F-95E3-1B96C1B822F8}"/>
              </a:ext>
            </a:extLst>
          </p:cNvPr>
          <p:cNvSpPr/>
          <p:nvPr/>
        </p:nvSpPr>
        <p:spPr>
          <a:xfrm>
            <a:off x="1389744" y="1142028"/>
            <a:ext cx="1016000" cy="1044997"/>
          </a:xfrm>
          <a:prstGeom prst="roundRect">
            <a:avLst/>
          </a:prstGeom>
          <a:solidFill>
            <a:srgbClr val="FFFF00">
              <a:alpha val="3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9E059B54-B33B-4943-96FB-B390686E8DD8}"/>
              </a:ext>
            </a:extLst>
          </p:cNvPr>
          <p:cNvSpPr/>
          <p:nvPr/>
        </p:nvSpPr>
        <p:spPr>
          <a:xfrm>
            <a:off x="5034644" y="1137388"/>
            <a:ext cx="1016000" cy="1044997"/>
          </a:xfrm>
          <a:prstGeom prst="roundRect">
            <a:avLst/>
          </a:prstGeom>
          <a:solidFill>
            <a:srgbClr val="FFFF00">
              <a:alpha val="3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AF995CB2-8FE8-4197-AE39-6E4415DB7633}"/>
              </a:ext>
            </a:extLst>
          </p:cNvPr>
          <p:cNvSpPr/>
          <p:nvPr/>
        </p:nvSpPr>
        <p:spPr>
          <a:xfrm>
            <a:off x="6850744" y="1157231"/>
            <a:ext cx="1016000" cy="1044997"/>
          </a:xfrm>
          <a:prstGeom prst="roundRect">
            <a:avLst/>
          </a:prstGeom>
          <a:solidFill>
            <a:srgbClr val="FFFF00">
              <a:alpha val="3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D75ED9CE-AD2D-412C-A857-5108F3E3592E}"/>
              </a:ext>
            </a:extLst>
          </p:cNvPr>
          <p:cNvSpPr/>
          <p:nvPr/>
        </p:nvSpPr>
        <p:spPr>
          <a:xfrm>
            <a:off x="1389744" y="4191092"/>
            <a:ext cx="1016000" cy="1044997"/>
          </a:xfrm>
          <a:prstGeom prst="roundRect">
            <a:avLst/>
          </a:prstGeom>
          <a:solidFill>
            <a:srgbClr val="FFFF00">
              <a:alpha val="3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EDD980A0-4177-4C9D-819C-3A8CE9A38E64}"/>
              </a:ext>
            </a:extLst>
          </p:cNvPr>
          <p:cNvSpPr/>
          <p:nvPr/>
        </p:nvSpPr>
        <p:spPr>
          <a:xfrm>
            <a:off x="5034644" y="4186452"/>
            <a:ext cx="1016000" cy="1044997"/>
          </a:xfrm>
          <a:prstGeom prst="roundRect">
            <a:avLst/>
          </a:prstGeom>
          <a:solidFill>
            <a:srgbClr val="FFFF00">
              <a:alpha val="3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D7950ACD-2D9A-486E-9E8B-C74DBE7BF530}"/>
              </a:ext>
            </a:extLst>
          </p:cNvPr>
          <p:cNvSpPr/>
          <p:nvPr/>
        </p:nvSpPr>
        <p:spPr>
          <a:xfrm>
            <a:off x="6850744" y="4206295"/>
            <a:ext cx="1016000" cy="1044997"/>
          </a:xfrm>
          <a:prstGeom prst="roundRect">
            <a:avLst/>
          </a:prstGeom>
          <a:solidFill>
            <a:srgbClr val="FFFF00">
              <a:alpha val="3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365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2566</TotalTime>
  <Words>730</Words>
  <Application>Microsoft Office PowerPoint</Application>
  <PresentationFormat>Широкоэкранный</PresentationFormat>
  <Paragraphs>109</Paragraphs>
  <Slides>14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Times New Roman</vt:lpstr>
      <vt:lpstr>Verdana</vt:lpstr>
      <vt:lpstr>Wingdings</vt:lpstr>
      <vt:lpstr>Office Theme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Design</dc:creator>
  <cp:lastModifiedBy>Aleksey N Gorbachev</cp:lastModifiedBy>
  <cp:revision>155</cp:revision>
  <dcterms:created xsi:type="dcterms:W3CDTF">2019-05-31T06:38:44Z</dcterms:created>
  <dcterms:modified xsi:type="dcterms:W3CDTF">2025-05-24T19:05:12Z</dcterms:modified>
</cp:coreProperties>
</file>